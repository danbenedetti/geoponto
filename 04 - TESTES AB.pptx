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FUKUTA" userId="d46c393200931197" providerId="LiveId" clId="{2D2B6BC3-318F-4FB5-A0A5-6F9DAEE5072F}"/>
    <pc:docChg chg="custSel modSld">
      <pc:chgData name="ALESSANDRO FUKUTA" userId="d46c393200931197" providerId="LiveId" clId="{2D2B6BC3-318F-4FB5-A0A5-6F9DAEE5072F}" dt="2025-08-22T20:34:15.214" v="4" actId="1076"/>
      <pc:docMkLst>
        <pc:docMk/>
      </pc:docMkLst>
      <pc:sldChg chg="delSp modSp mod">
        <pc:chgData name="ALESSANDRO FUKUTA" userId="d46c393200931197" providerId="LiveId" clId="{2D2B6BC3-318F-4FB5-A0A5-6F9DAEE5072F}" dt="2025-08-22T20:34:15.214" v="4" actId="1076"/>
        <pc:sldMkLst>
          <pc:docMk/>
          <pc:sldMk cId="3745457525" sldId="262"/>
        </pc:sldMkLst>
        <pc:picChg chg="mod">
          <ac:chgData name="ALESSANDRO FUKUTA" userId="d46c393200931197" providerId="LiveId" clId="{2D2B6BC3-318F-4FB5-A0A5-6F9DAEE5072F}" dt="2025-08-22T20:34:15.214" v="4" actId="1076"/>
          <ac:picMkLst>
            <pc:docMk/>
            <pc:sldMk cId="3745457525" sldId="262"/>
            <ac:picMk id="7" creationId="{52ADFC95-A93C-80F6-DD7F-6122D9932E1F}"/>
          </ac:picMkLst>
        </pc:picChg>
        <pc:picChg chg="del">
          <ac:chgData name="ALESSANDRO FUKUTA" userId="d46c393200931197" providerId="LiveId" clId="{2D2B6BC3-318F-4FB5-A0A5-6F9DAEE5072F}" dt="2025-08-22T20:33:52.899" v="0" actId="478"/>
          <ac:picMkLst>
            <pc:docMk/>
            <pc:sldMk cId="3745457525" sldId="262"/>
            <ac:picMk id="8" creationId="{58D751CB-A24B-F06C-21CB-98B9F805D57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258E4-53D5-B4B8-D398-8C4DB16C2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FED0D1-FAA5-638B-F68E-B2E27F3ED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234237-C8B5-5FBA-EB58-908B6FD5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4F1652-901D-7383-5627-20EBFF474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4AA558-CE67-4E3C-C2A7-823C4F71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36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1D59C-933C-0645-5DD3-738009EBF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26C3C-13DD-9CA5-A73F-7E6DF00F3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0314F2-B293-0D0E-774B-76A6E2FE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6EED1-D84B-104B-5AAB-063FAECBE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6FA942-9323-3C89-A54C-CF7396D8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42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83F80-A336-3D47-79B2-017A03C7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37E68B-6224-99DD-D3FF-D03D4A050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6C7B7-60B3-53AB-A53C-931871AA0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1D6B6C-2325-8785-159F-8ED01A00E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B56034-173E-C150-11C0-1C549A2D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62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B457B-6AAA-CE75-90F7-D96A25F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63322E-FA31-D884-4C08-4AA6D509D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3D8D2A-FD0C-4A89-8CC8-A30E30782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B32994-ABAD-8B7B-1C84-6B0E00D0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0006AD-EEF3-75ED-8C22-4DEAC812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F91BD4-B264-54AD-47EC-C7BFB2E0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214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7FE20-B4C5-C570-447A-4AD55403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61EF72-DEAC-1DF7-A450-1AE9F6669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A527D1-0DCA-A64E-86DC-0950E8928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7569EB-6CED-7546-9C32-11422D04D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249DAF-2F80-A53C-8184-BE724597E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160B57-32D2-A705-B618-D692278D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052841-ADAF-04D8-D656-E44DC612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70D36A-3645-8933-83AE-9E41605C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36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C19A2-1C76-3CB5-7600-31CFF793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B07362-F2C1-566C-4954-A0D0A393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BC4AC8-76D6-9F3C-16C3-F781B60D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70FCB8-64C0-9278-0B68-BBB1CEA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34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AD8AC-22E3-E136-8A91-17CCE4075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3BF81E-AFF8-35CF-541E-B3A8B727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FBFA04-7F20-DB4D-095C-102B7F15F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38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0F75C-855A-10EF-FD56-90C3BE1A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0C8BA3-60B4-9033-7482-ED100AE1B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A745CC8-DF50-A89F-2C44-ABD6A2763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A73CED-94D4-D0D1-EBF8-8FE3FC99F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7ADF9E-86B8-288A-045D-7C773D34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B17E14-F362-C4EC-7BC8-7921077A2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19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732F5D-A2D3-84AA-E592-4F2FD45A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E8D15B-677C-6938-8F85-6A45E4C30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D9672A-62F1-0E26-D1B2-667FCB3B7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F1D456-9681-5644-DBB6-2B004BE4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5A45BC-A0FC-E9FA-401B-8D028476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BE302-3603-6221-3ED5-7CB397E13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2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28040-E7A5-A987-C480-56B319EE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5F161D-4688-0D7A-B146-63EC5AB4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928933-626F-967D-43FA-83A35573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9E5F07-8797-C403-D93D-17D705B9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495C7B-BA94-431E-AD1E-B4A940B5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30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EF6423-B249-53FD-796B-DAE3423C6A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396960-2868-32A2-1E23-669C957A7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1A1051-AD2D-9FF0-43C1-471C643D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B7BFB0-1739-2E46-F81C-07735923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2D8C2F-81B7-34A6-3BCB-3076B024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796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AB14F0-EC96-28D2-77AF-6ADEE193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BF5D8C-C73A-14F3-EF13-5A5631CA2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BEB876-54F1-9B56-24A1-FC827B3AB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A3985-F854-4978-8041-266BF59029BA}" type="datetimeFigureOut">
              <a:rPr lang="pt-BR" smtClean="0"/>
              <a:t>22/08/2025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8F51C-F1B7-1686-5708-040065B8D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14EE69-3A83-448D-0547-DA01785A5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42F1D-BDF7-4C6C-B08B-CF6C4D8C37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2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EF310-D062-7F30-766F-8D6FE3E97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Laboratório para Programação de Dispositivos Moveis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6BCDE2-57B2-A950-A1B9-3D93713AF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1543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TESTE A/B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2A275D-734E-684A-A93E-748FEAFBF495}"/>
              </a:ext>
            </a:extLst>
          </p:cNvPr>
          <p:cNvSpPr txBox="1"/>
          <p:nvPr/>
        </p:nvSpPr>
        <p:spPr>
          <a:xfrm>
            <a:off x="9049732" y="6052008"/>
            <a:ext cx="2821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PROF. ALESSANDRO FUKUTA</a:t>
            </a:r>
          </a:p>
        </p:txBody>
      </p:sp>
    </p:spTree>
    <p:extLst>
      <p:ext uri="{BB962C8B-B14F-4D97-AF65-F5344CB8AC3E}">
        <p14:creationId xmlns:p14="http://schemas.microsoft.com/office/powerpoint/2010/main" val="87219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F074BF86-1E39-0A12-2A9F-A4BEA90AB0CB}"/>
              </a:ext>
            </a:extLst>
          </p:cNvPr>
          <p:cNvSpPr txBox="1">
            <a:spLocks/>
          </p:cNvSpPr>
          <p:nvPr/>
        </p:nvSpPr>
        <p:spPr>
          <a:xfrm>
            <a:off x="270235" y="340364"/>
            <a:ext cx="9144000" cy="7154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800" b="1" dirty="0"/>
              <a:t>Definição de teste A/B </a:t>
            </a:r>
          </a:p>
          <a:p>
            <a:pPr marL="0" indent="0">
              <a:buNone/>
            </a:pPr>
            <a:endParaRPr lang="pt-BR" sz="4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88B6E8-1596-7739-7907-F14D11F5C4DF}"/>
              </a:ext>
            </a:extLst>
          </p:cNvPr>
          <p:cNvSpPr txBox="1"/>
          <p:nvPr/>
        </p:nvSpPr>
        <p:spPr>
          <a:xfrm>
            <a:off x="270235" y="961534"/>
            <a:ext cx="8646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 err="1"/>
              <a:t>Tambem</a:t>
            </a:r>
            <a:r>
              <a:rPr lang="pt-BR" sz="2000" b="1" dirty="0"/>
              <a:t> conhecido como  Teste de Divisão ou Teste de </a:t>
            </a:r>
            <a:r>
              <a:rPr lang="pt-BR" sz="2000" b="1" dirty="0" err="1"/>
              <a:t>Bucket</a:t>
            </a:r>
            <a:r>
              <a:rPr lang="pt-BR" sz="2000" b="1" dirty="0"/>
              <a:t> (balde, caçamba)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0F1D21-1B5E-079D-6D7E-132F40331370}"/>
              </a:ext>
            </a:extLst>
          </p:cNvPr>
          <p:cNvSpPr txBox="1"/>
          <p:nvPr/>
        </p:nvSpPr>
        <p:spPr>
          <a:xfrm>
            <a:off x="1250987" y="2048802"/>
            <a:ext cx="9690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Serve para comparar 2 versões de conteúdo</a:t>
            </a:r>
          </a:p>
          <a:p>
            <a:r>
              <a:rPr lang="pt-BR" sz="2800" dirty="0"/>
              <a:t>Objetivo Inicial: Avaliar qual atrai mais visitantes ou espectadores.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C7CABF-7AFC-D6C0-41AC-C8A7A5C08629}"/>
              </a:ext>
            </a:extLst>
          </p:cNvPr>
          <p:cNvSpPr txBox="1"/>
          <p:nvPr/>
        </p:nvSpPr>
        <p:spPr>
          <a:xfrm>
            <a:off x="1346001" y="3429000"/>
            <a:ext cx="8068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Em Relação a uma Versão (A) com a Versão (B)</a:t>
            </a:r>
          </a:p>
        </p:txBody>
      </p:sp>
    </p:spTree>
    <p:extLst>
      <p:ext uri="{BB962C8B-B14F-4D97-AF65-F5344CB8AC3E}">
        <p14:creationId xmlns:p14="http://schemas.microsoft.com/office/powerpoint/2010/main" val="413340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A505A271-5B8A-FB3A-011D-E12371E948C4}"/>
              </a:ext>
            </a:extLst>
          </p:cNvPr>
          <p:cNvSpPr txBox="1">
            <a:spLocks/>
          </p:cNvSpPr>
          <p:nvPr/>
        </p:nvSpPr>
        <p:spPr>
          <a:xfrm>
            <a:off x="270235" y="340364"/>
            <a:ext cx="9144000" cy="7154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800" b="1" dirty="0"/>
              <a:t>Definição de teste A/B </a:t>
            </a:r>
          </a:p>
          <a:p>
            <a:pPr marL="0" indent="0">
              <a:buNone/>
            </a:pPr>
            <a:endParaRPr lang="pt-BR" sz="4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7A5567-BBCB-2F7C-8365-5BE5D5A84CD2}"/>
              </a:ext>
            </a:extLst>
          </p:cNvPr>
          <p:cNvSpPr txBox="1"/>
          <p:nvPr/>
        </p:nvSpPr>
        <p:spPr>
          <a:xfrm>
            <a:off x="920865" y="1781666"/>
            <a:ext cx="103502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Inicialmente foi pensada para Planos e Projetos de Marketing Digital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F287F3-C11F-3FE7-171A-0EEB5CD871C7}"/>
              </a:ext>
            </a:extLst>
          </p:cNvPr>
          <p:cNvSpPr txBox="1"/>
          <p:nvPr/>
        </p:nvSpPr>
        <p:spPr>
          <a:xfrm>
            <a:off x="1234911" y="2862673"/>
            <a:ext cx="9211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Mas com a evolução passou a ter papel fundamental na construção de </a:t>
            </a:r>
          </a:p>
          <a:p>
            <a:r>
              <a:rPr lang="pt-BR" sz="2400" b="1" dirty="0"/>
              <a:t>projetos de SITES e APLICATIVOS MÓVEIS</a:t>
            </a:r>
          </a:p>
        </p:txBody>
      </p:sp>
    </p:spTree>
    <p:extLst>
      <p:ext uri="{BB962C8B-B14F-4D97-AF65-F5344CB8AC3E}">
        <p14:creationId xmlns:p14="http://schemas.microsoft.com/office/powerpoint/2010/main" val="152121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>
            <a:extLst>
              <a:ext uri="{FF2B5EF4-FFF2-40B4-BE49-F238E27FC236}">
                <a16:creationId xmlns:a16="http://schemas.microsoft.com/office/drawing/2014/main" id="{62E46D2D-FE15-F171-3EC2-B619FBE36DA0}"/>
              </a:ext>
            </a:extLst>
          </p:cNvPr>
          <p:cNvSpPr txBox="1">
            <a:spLocks/>
          </p:cNvSpPr>
          <p:nvPr/>
        </p:nvSpPr>
        <p:spPr>
          <a:xfrm>
            <a:off x="270235" y="340364"/>
            <a:ext cx="9144000" cy="7154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800" b="1" dirty="0"/>
              <a:t>Definição de teste A/B </a:t>
            </a:r>
          </a:p>
          <a:p>
            <a:pPr marL="0" indent="0">
              <a:buNone/>
            </a:pPr>
            <a:endParaRPr lang="pt-BR" sz="4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27DDE1-7CB6-8AAB-5B93-274EE9476EF7}"/>
              </a:ext>
            </a:extLst>
          </p:cNvPr>
          <p:cNvSpPr txBox="1"/>
          <p:nvPr/>
        </p:nvSpPr>
        <p:spPr>
          <a:xfrm>
            <a:off x="537328" y="1574276"/>
            <a:ext cx="1144524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Em Aplicativos Mobile e Sites passou a ter outras funções de monitoramento.</a:t>
            </a:r>
          </a:p>
          <a:p>
            <a:endParaRPr lang="pt-BR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Métricas de Performance de Telas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Métricas de Performance de Consumo de API´S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Métricas de Transações e Execuções de Métodos</a:t>
            </a:r>
          </a:p>
          <a:p>
            <a:endParaRPr lang="pt-BR" sz="2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466403-8047-4967-58D9-D65D11378A70}"/>
              </a:ext>
            </a:extLst>
          </p:cNvPr>
          <p:cNvSpPr txBox="1"/>
          <p:nvPr/>
        </p:nvSpPr>
        <p:spPr>
          <a:xfrm>
            <a:off x="1980286" y="5443980"/>
            <a:ext cx="8559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 </a:t>
            </a:r>
            <a:r>
              <a:rPr lang="pt-BR" sz="2400" dirty="0" err="1"/>
              <a:t>Idéia</a:t>
            </a:r>
            <a:r>
              <a:rPr lang="pt-BR" sz="2400" dirty="0"/>
              <a:t> é sempre oferecer a melhor experiência ao usuário / cliente</a:t>
            </a:r>
          </a:p>
        </p:txBody>
      </p:sp>
    </p:spTree>
    <p:extLst>
      <p:ext uri="{BB962C8B-B14F-4D97-AF65-F5344CB8AC3E}">
        <p14:creationId xmlns:p14="http://schemas.microsoft.com/office/powerpoint/2010/main" val="13268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B58774-A621-F072-407F-C9C3ABBE1D80}"/>
              </a:ext>
            </a:extLst>
          </p:cNvPr>
          <p:cNvSpPr txBox="1"/>
          <p:nvPr/>
        </p:nvSpPr>
        <p:spPr>
          <a:xfrm>
            <a:off x="445417" y="399795"/>
            <a:ext cx="11027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Quando e por que você deve fazer o teste A/B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98F3DD3-F987-B27A-F742-5997A5B2064D}"/>
              </a:ext>
            </a:extLst>
          </p:cNvPr>
          <p:cNvSpPr txBox="1"/>
          <p:nvPr/>
        </p:nvSpPr>
        <p:spPr>
          <a:xfrm>
            <a:off x="511405" y="1420793"/>
            <a:ext cx="10734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teste A/B oferece mais benefícios quando opera continuamente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B2BC671-6D84-3ABE-20EB-D56DD9450D69}"/>
              </a:ext>
            </a:extLst>
          </p:cNvPr>
          <p:cNvSpPr txBox="1"/>
          <p:nvPr/>
        </p:nvSpPr>
        <p:spPr>
          <a:xfrm>
            <a:off x="511404" y="1939268"/>
            <a:ext cx="11027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Um fluxo regular de testes pode fornecer um fluxo de recomendações sobre como ajustar o desempenho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F96911-A88F-E742-896A-D45F6EB36F97}"/>
              </a:ext>
            </a:extLst>
          </p:cNvPr>
          <p:cNvSpPr txBox="1"/>
          <p:nvPr/>
        </p:nvSpPr>
        <p:spPr>
          <a:xfrm>
            <a:off x="511404" y="2555411"/>
            <a:ext cx="715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teste A/B pode ser usado para avaliar praticamente qualquer ativo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16A5651-7524-FC87-2B91-183425DF182C}"/>
              </a:ext>
            </a:extLst>
          </p:cNvPr>
          <p:cNvSpPr txBox="1"/>
          <p:nvPr/>
        </p:nvSpPr>
        <p:spPr>
          <a:xfrm>
            <a:off x="304015" y="2683267"/>
            <a:ext cx="60944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  <a:p>
            <a:r>
              <a:rPr lang="pt-BR" dirty="0"/>
              <a:t>    e-mails</a:t>
            </a:r>
          </a:p>
          <a:p>
            <a:r>
              <a:rPr lang="pt-BR" dirty="0"/>
              <a:t>    newsletters</a:t>
            </a:r>
          </a:p>
          <a:p>
            <a:r>
              <a:rPr lang="pt-BR" dirty="0"/>
              <a:t>    anúncios</a:t>
            </a:r>
          </a:p>
          <a:p>
            <a:r>
              <a:rPr lang="pt-BR" dirty="0"/>
              <a:t>    mensagens de texto</a:t>
            </a:r>
          </a:p>
          <a:p>
            <a:r>
              <a:rPr lang="pt-BR" dirty="0"/>
              <a:t>    páginas do site</a:t>
            </a:r>
          </a:p>
          <a:p>
            <a:r>
              <a:rPr lang="pt-BR" dirty="0"/>
              <a:t>    componentes em páginas da web</a:t>
            </a:r>
          </a:p>
          <a:p>
            <a:r>
              <a:rPr lang="pt-BR" dirty="0"/>
              <a:t>    aplicativos móveis</a:t>
            </a:r>
          </a:p>
        </p:txBody>
      </p:sp>
    </p:spTree>
    <p:extLst>
      <p:ext uri="{BB962C8B-B14F-4D97-AF65-F5344CB8AC3E}">
        <p14:creationId xmlns:p14="http://schemas.microsoft.com/office/powerpoint/2010/main" val="288564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093639B-C263-6464-1E82-F047F9A275FB}"/>
              </a:ext>
            </a:extLst>
          </p:cNvPr>
          <p:cNvSpPr txBox="1"/>
          <p:nvPr/>
        </p:nvSpPr>
        <p:spPr>
          <a:xfrm>
            <a:off x="386499" y="377072"/>
            <a:ext cx="7249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ANALISE NO TESTE A/B DO SITE OU APLICATIVO MÓVEL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521C68-4595-17F5-A5A8-D9C725DC0087}"/>
              </a:ext>
            </a:extLst>
          </p:cNvPr>
          <p:cNvSpPr txBox="1"/>
          <p:nvPr/>
        </p:nvSpPr>
        <p:spPr>
          <a:xfrm>
            <a:off x="584462" y="1348033"/>
            <a:ext cx="10636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BASE SÓLIDA E CRITERIOSA DE ANÁLISE</a:t>
            </a:r>
          </a:p>
          <a:p>
            <a:r>
              <a:rPr lang="pt-BR" b="1" dirty="0"/>
              <a:t>VOCÊ PRECISA ENTENDER OS RESULTADOS DE DESEMPENHO ATUAIS E OS NÍVEIS DE TRÁFEGO E USABILIDADE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1A9C5F6-965C-2CA0-D4F1-4824DFA14262}"/>
              </a:ext>
            </a:extLst>
          </p:cNvPr>
          <p:cNvSpPr txBox="1"/>
          <p:nvPr/>
        </p:nvSpPr>
        <p:spPr>
          <a:xfrm>
            <a:off x="668552" y="2406673"/>
            <a:ext cx="4862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WEB-SITE / APLICATIVO MÓVEL</a:t>
            </a:r>
            <a:endParaRPr lang="pt-BR" sz="2400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BF6FCE-9C4D-D1FF-FB23-6D5F8878063F}"/>
              </a:ext>
            </a:extLst>
          </p:cNvPr>
          <p:cNvSpPr txBox="1"/>
          <p:nvPr/>
        </p:nvSpPr>
        <p:spPr>
          <a:xfrm>
            <a:off x="584462" y="2929893"/>
            <a:ext cx="966617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TRÁFEGO (VISUALIZAÇÕES DE PÁGINA, POR ANÔNIMOS OU CLIENTES)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ENGAJAMENTO (TEMPO GASTO, PAGINAS POR VISITA, TAXA DE REJEIÇÃO)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CONVERSÕES (cliques, registros)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TENDÊNCIA DE DESEMPENHO AO LONGO DO TEMPO</a:t>
            </a:r>
          </a:p>
        </p:txBody>
      </p:sp>
    </p:spTree>
    <p:extLst>
      <p:ext uri="{BB962C8B-B14F-4D97-AF65-F5344CB8AC3E}">
        <p14:creationId xmlns:p14="http://schemas.microsoft.com/office/powerpoint/2010/main" val="329311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0BED73-FBEC-80BC-8901-7E9273D87E59}"/>
              </a:ext>
            </a:extLst>
          </p:cNvPr>
          <p:cNvSpPr txBox="1"/>
          <p:nvPr/>
        </p:nvSpPr>
        <p:spPr>
          <a:xfrm>
            <a:off x="511297" y="302993"/>
            <a:ext cx="11169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TESTE A/B NÃO É SO UM PEQUENO CÓDIGO MEDIDOR DE TEMPO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8A530A-73AB-7B64-F62F-20434DF2A0DE}"/>
              </a:ext>
            </a:extLst>
          </p:cNvPr>
          <p:cNvSpPr txBox="1"/>
          <p:nvPr/>
        </p:nvSpPr>
        <p:spPr>
          <a:xfrm>
            <a:off x="395926" y="1150070"/>
            <a:ext cx="102859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QUANDO O TESTE A/B É LANÇADO A ANÁLISE DESEMPENHA UM PAPEL CENTRAL.</a:t>
            </a:r>
          </a:p>
          <a:p>
            <a:endParaRPr lang="pt-BR" dirty="0"/>
          </a:p>
          <a:p>
            <a:r>
              <a:rPr lang="pt-BR" dirty="0"/>
              <a:t>UM PAINEL É USADO PARA MONITORAR ATRAVÉS DE DASHBOARDS (GRÁFICOS) E RELATÓRIOS AS MÉTRICAS</a:t>
            </a:r>
          </a:p>
          <a:p>
            <a:r>
              <a:rPr lang="pt-BR" dirty="0"/>
              <a:t>DE DESEMPENHO EM TEMPO REAL.</a:t>
            </a:r>
          </a:p>
          <a:p>
            <a:endParaRPr lang="pt-BR" dirty="0"/>
          </a:p>
          <a:p>
            <a:r>
              <a:rPr lang="pt-BR" dirty="0"/>
              <a:t>ISSO VALIDA O TESTE PARA SEU FUNCIONAMENTO E GARANTIR OS AJUSTES NECESSÁRIOS A APLICAÇÃO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ADFC95-A93C-80F6-DD7F-6122D9932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726" y="2904396"/>
            <a:ext cx="7275541" cy="383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57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A91B982-7E10-E9AC-3D49-F683438EEA0B}"/>
              </a:ext>
            </a:extLst>
          </p:cNvPr>
          <p:cNvSpPr txBox="1"/>
          <p:nvPr/>
        </p:nvSpPr>
        <p:spPr>
          <a:xfrm>
            <a:off x="1885360" y="362088"/>
            <a:ext cx="76522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3200" b="1" dirty="0"/>
              <a:t>Como interpretar os resultados do teste A/B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16F4DA8-DE20-48FD-736C-CAE9AF379B71}"/>
              </a:ext>
            </a:extLst>
          </p:cNvPr>
          <p:cNvSpPr txBox="1"/>
          <p:nvPr/>
        </p:nvSpPr>
        <p:spPr>
          <a:xfrm>
            <a:off x="370002" y="1162648"/>
            <a:ext cx="114040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É importante estabelecer metas ao planejar um teste para que você possa avaliar os resultados, determinar um vencedor e atualizar sua site ou Aplicativo Móvel para refletir o resultado vencedor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672B5D-1B6D-7280-9FDF-026CCF8F2F19}"/>
              </a:ext>
            </a:extLst>
          </p:cNvPr>
          <p:cNvSpPr txBox="1"/>
          <p:nvPr/>
        </p:nvSpPr>
        <p:spPr>
          <a:xfrm>
            <a:off x="1574276" y="2184364"/>
            <a:ext cx="91345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Os resultados do teste indicarão o sucesso de um elemento em relação ao outro com base no que você decidiu medir, como: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8996E8-F0E7-AA69-81E7-CCE331D3AA47}"/>
              </a:ext>
            </a:extLst>
          </p:cNvPr>
          <p:cNvSpPr txBox="1"/>
          <p:nvPr/>
        </p:nvSpPr>
        <p:spPr>
          <a:xfrm>
            <a:off x="3572758" y="3222654"/>
            <a:ext cx="60944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número de visitantes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taxas de abertura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taxas de cliques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inscrições (para newsletters,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assinaturas</a:t>
            </a:r>
          </a:p>
        </p:txBody>
      </p:sp>
    </p:spTree>
    <p:extLst>
      <p:ext uri="{BB962C8B-B14F-4D97-AF65-F5344CB8AC3E}">
        <p14:creationId xmlns:p14="http://schemas.microsoft.com/office/powerpoint/2010/main" val="421706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6DB108B-5ACF-3C3F-B1A5-BED61691E38D}"/>
              </a:ext>
            </a:extLst>
          </p:cNvPr>
          <p:cNvSpPr txBox="1"/>
          <p:nvPr/>
        </p:nvSpPr>
        <p:spPr>
          <a:xfrm>
            <a:off x="2679569" y="440406"/>
            <a:ext cx="60944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As taxas de conversão também podem ser medidas em termos de receita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8A2E3C-1426-234D-D80B-295B201E4654}"/>
              </a:ext>
            </a:extLst>
          </p:cNvPr>
          <p:cNvSpPr txBox="1"/>
          <p:nvPr/>
        </p:nvSpPr>
        <p:spPr>
          <a:xfrm>
            <a:off x="379429" y="1881987"/>
            <a:ext cx="60944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Você pode considerar os números de vendas junto com o impacto de uma alteração na receita real de vendas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7B0A46-2E24-BFCA-50EA-8FD855F2B986}"/>
              </a:ext>
            </a:extLst>
          </p:cNvPr>
          <p:cNvSpPr txBox="1"/>
          <p:nvPr/>
        </p:nvSpPr>
        <p:spPr>
          <a:xfrm>
            <a:off x="6723669" y="1881987"/>
            <a:ext cx="51918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vendas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leads gerados/registros enviados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inscrições em newsletters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cliques em banners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800" dirty="0"/>
              <a:t>tempo gasto no site</a:t>
            </a:r>
          </a:p>
        </p:txBody>
      </p:sp>
    </p:spTree>
    <p:extLst>
      <p:ext uri="{BB962C8B-B14F-4D97-AF65-F5344CB8AC3E}">
        <p14:creationId xmlns:p14="http://schemas.microsoft.com/office/powerpoint/2010/main" val="333101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B5412BA-AA57-F655-758F-563577CDAB1B}"/>
              </a:ext>
            </a:extLst>
          </p:cNvPr>
          <p:cNvSpPr txBox="1"/>
          <p:nvPr/>
        </p:nvSpPr>
        <p:spPr>
          <a:xfrm>
            <a:off x="1396737" y="1934926"/>
            <a:ext cx="93985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Para testes de performance em aplicações Android, </a:t>
            </a:r>
          </a:p>
          <a:p>
            <a:r>
              <a:rPr lang="pt-BR" sz="2800" b="1" dirty="0"/>
              <a:t>use</a:t>
            </a:r>
            <a:r>
              <a:rPr lang="pt-BR" sz="3200" b="1" dirty="0"/>
              <a:t>: </a:t>
            </a:r>
          </a:p>
          <a:p>
            <a:endParaRPr lang="pt-BR" sz="2000" b="1" dirty="0"/>
          </a:p>
          <a:p>
            <a:r>
              <a:rPr lang="pt-BR" sz="2000" b="1" dirty="0" err="1"/>
              <a:t>Firebase</a:t>
            </a:r>
            <a:r>
              <a:rPr lang="pt-BR" sz="2000" b="1" dirty="0"/>
              <a:t> </a:t>
            </a:r>
            <a:r>
              <a:rPr lang="pt-BR" dirty="0"/>
              <a:t>Performance </a:t>
            </a:r>
            <a:r>
              <a:rPr lang="pt-BR" dirty="0" err="1"/>
              <a:t>Monitoring</a:t>
            </a:r>
            <a:r>
              <a:rPr lang="pt-BR" dirty="0"/>
              <a:t> para monitorizar métricas em produção </a:t>
            </a:r>
          </a:p>
          <a:p>
            <a:r>
              <a:rPr lang="pt-BR" sz="2000" b="1" dirty="0" err="1"/>
              <a:t>JankStats</a:t>
            </a:r>
            <a:r>
              <a:rPr lang="pt-BR" dirty="0"/>
              <a:t> e a biblioteca </a:t>
            </a:r>
            <a:r>
              <a:rPr lang="pt-BR" dirty="0" err="1"/>
              <a:t>AndroidX</a:t>
            </a:r>
            <a:r>
              <a:rPr lang="pt-BR" dirty="0"/>
              <a:t> </a:t>
            </a:r>
            <a:r>
              <a:rPr lang="pt-BR" dirty="0" err="1"/>
              <a:t>Tracing</a:t>
            </a:r>
            <a:r>
              <a:rPr lang="pt-BR" dirty="0"/>
              <a:t> para análise em campo, </a:t>
            </a:r>
          </a:p>
          <a:p>
            <a:r>
              <a:rPr lang="pt-BR" sz="2000" b="1" dirty="0" err="1"/>
              <a:t>JMeter</a:t>
            </a:r>
            <a:r>
              <a:rPr lang="pt-BR" sz="2000" b="1" dirty="0"/>
              <a:t> e </a:t>
            </a:r>
            <a:r>
              <a:rPr lang="pt-BR" sz="2000" b="1" dirty="0" err="1"/>
              <a:t>Gatling</a:t>
            </a:r>
            <a:r>
              <a:rPr lang="pt-BR" sz="2000" b="1" dirty="0"/>
              <a:t> </a:t>
            </a:r>
            <a:r>
              <a:rPr lang="pt-BR" dirty="0"/>
              <a:t>para testes de carga. </a:t>
            </a:r>
          </a:p>
          <a:p>
            <a:r>
              <a:rPr lang="pt-BR" sz="2000" b="1" dirty="0"/>
              <a:t>Charles Proxy </a:t>
            </a:r>
            <a:r>
              <a:rPr lang="pt-BR" dirty="0"/>
              <a:t>é útil para simular condições de rede</a:t>
            </a:r>
          </a:p>
          <a:p>
            <a:r>
              <a:rPr lang="pt-BR" sz="2000" b="1" dirty="0" err="1"/>
              <a:t>Firebase</a:t>
            </a:r>
            <a:r>
              <a:rPr lang="pt-BR" sz="2000" b="1" dirty="0"/>
              <a:t> Test </a:t>
            </a:r>
            <a:r>
              <a:rPr lang="pt-BR" sz="2000" b="1" dirty="0" err="1"/>
              <a:t>Lab</a:t>
            </a:r>
            <a:r>
              <a:rPr lang="pt-BR" sz="2000" b="1" dirty="0"/>
              <a:t> </a:t>
            </a:r>
            <a:r>
              <a:rPr lang="pt-BR" dirty="0"/>
              <a:t>executa testes instrumentados em dispositivos de produção reais</a:t>
            </a:r>
          </a:p>
        </p:txBody>
      </p:sp>
    </p:spTree>
    <p:extLst>
      <p:ext uri="{BB962C8B-B14F-4D97-AF65-F5344CB8AC3E}">
        <p14:creationId xmlns:p14="http://schemas.microsoft.com/office/powerpoint/2010/main" val="70958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4AD61F4-D963-7079-8B04-4252553A0E1C}"/>
              </a:ext>
            </a:extLst>
          </p:cNvPr>
          <p:cNvSpPr txBox="1"/>
          <p:nvPr/>
        </p:nvSpPr>
        <p:spPr>
          <a:xfrm>
            <a:off x="1059133" y="1800165"/>
            <a:ext cx="1033911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Vamos implementar um teste A/B em nosso projeto onde deverá </a:t>
            </a:r>
          </a:p>
          <a:p>
            <a:r>
              <a:rPr lang="pt-BR" sz="2400" dirty="0"/>
              <a:t>Enviar dados para API de Testes dos seguintes itens:</a:t>
            </a:r>
          </a:p>
          <a:p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Paginas mais acessadas e tempo de renderização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Botões mais clicados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Paginas mais pesadas (demoram mais para ser renderizada)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/>
              <a:t>Desenvolver um painel com Dashboard simples para exibição dessas métricas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46DDF0-785D-9554-1FC7-E8EB8795AB12}"/>
              </a:ext>
            </a:extLst>
          </p:cNvPr>
          <p:cNvSpPr txBox="1"/>
          <p:nvPr/>
        </p:nvSpPr>
        <p:spPr>
          <a:xfrm>
            <a:off x="2875175" y="921098"/>
            <a:ext cx="6039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/>
              <a:t>ATIVIDADE NO PROJETO DA DISCIPLINA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AE1803-6CCE-AB12-DF76-B4B08DFC5D9C}"/>
              </a:ext>
            </a:extLst>
          </p:cNvPr>
          <p:cNvSpPr txBox="1"/>
          <p:nvPr/>
        </p:nvSpPr>
        <p:spPr>
          <a:xfrm>
            <a:off x="1174588" y="5203000"/>
            <a:ext cx="9996175" cy="70788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ENTREGA: </a:t>
            </a:r>
            <a:r>
              <a:rPr lang="pt-BR" sz="2000" b="1" dirty="0">
                <a:solidFill>
                  <a:srgbClr val="FFFF00"/>
                </a:solidFill>
              </a:rPr>
              <a:t>26/09</a:t>
            </a:r>
            <a:r>
              <a:rPr lang="pt-BR" sz="2000" b="1" dirty="0"/>
              <a:t> – APRESENTAÇÃO EM SALA DE AULA – VALENDO A NOTA DO 1º BIMESTRE</a:t>
            </a:r>
          </a:p>
          <a:p>
            <a:pPr algn="ctr"/>
            <a:r>
              <a:rPr lang="pt-BR" sz="2000" b="1" dirty="0"/>
              <a:t>PROJETO APRESENTADO + TESTE A/B </a:t>
            </a:r>
          </a:p>
        </p:txBody>
      </p:sp>
    </p:spTree>
    <p:extLst>
      <p:ext uri="{BB962C8B-B14F-4D97-AF65-F5344CB8AC3E}">
        <p14:creationId xmlns:p14="http://schemas.microsoft.com/office/powerpoint/2010/main" val="1822629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F4DACFC28D88449CC84591B0E03254" ma:contentTypeVersion="3" ma:contentTypeDescription="Create a new document." ma:contentTypeScope="" ma:versionID="6ea9c1ec92600774114a01391b6908e7">
  <xsd:schema xmlns:xsd="http://www.w3.org/2001/XMLSchema" xmlns:xs="http://www.w3.org/2001/XMLSchema" xmlns:p="http://schemas.microsoft.com/office/2006/metadata/properties" xmlns:ns2="fbfc5100-a541-454a-87e8-b532f4ade751" targetNamespace="http://schemas.microsoft.com/office/2006/metadata/properties" ma:root="true" ma:fieldsID="1574ac4e463dc9218c26437e12b76b6d" ns2:_="">
    <xsd:import namespace="fbfc5100-a541-454a-87e8-b532f4ade7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fc5100-a541-454a-87e8-b532f4ade7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406B67-86DC-4E22-A27F-02E89D986A33}"/>
</file>

<file path=customXml/itemProps2.xml><?xml version="1.0" encoding="utf-8"?>
<ds:datastoreItem xmlns:ds="http://schemas.openxmlformats.org/officeDocument/2006/customXml" ds:itemID="{743F49DD-54FC-4E04-B4DA-F8BDC2C867D1}"/>
</file>

<file path=customXml/itemProps3.xml><?xml version="1.0" encoding="utf-8"?>
<ds:datastoreItem xmlns:ds="http://schemas.openxmlformats.org/officeDocument/2006/customXml" ds:itemID="{8BCD123D-128D-4B7E-9C9E-667908F424EB}"/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630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Laboratório para Programação de Dispositivos Moveis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FUKUTA</dc:creator>
  <cp:lastModifiedBy>ALESSANDRO FUKUTA</cp:lastModifiedBy>
  <cp:revision>1</cp:revision>
  <dcterms:created xsi:type="dcterms:W3CDTF">2025-08-22T20:19:32Z</dcterms:created>
  <dcterms:modified xsi:type="dcterms:W3CDTF">2025-08-22T20:50:44Z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0x0101000BF4DACFC28D88449CC84591B0E03254</vt:lpwstr>
  </property>
</Properties>
</file>